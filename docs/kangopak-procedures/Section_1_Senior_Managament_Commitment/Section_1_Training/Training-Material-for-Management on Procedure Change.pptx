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Source Sans 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452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6771" y="657463"/>
            <a:ext cx="12956858" cy="122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 Material for Management: Driving Cultural Change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6771" y="2202418"/>
            <a:ext cx="12956858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training material is designed for the management team to introduce the new, BRC-compliant approach to our Product Safety Culture.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36771" y="2847737"/>
            <a:ext cx="8364141" cy="611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Module 1: Why We Are Changing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36771" y="3781544"/>
            <a:ext cx="5845731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Challenge with Our Old Approach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36771" y="4470916"/>
            <a:ext cx="12956858" cy="1290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previous "Food Safety and Quality Culture Plan" was a great starting point, but it had key limitations. It was largely a conceptual document that described our intentions rather than providing an auditable action plan. Critically, its </a:t>
            </a: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measurement system relied on a subjective 0,1,2,3 scale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that only measured whether an activity was completed, not its </a:t>
            </a: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actual impact on employee behavior or product safety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This approach presented a significant risk during audits because it could not provide objective proof of a positive cultural shift.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36771" y="6003608"/>
            <a:ext cx="4175522" cy="1571268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836771" y="6003608"/>
            <a:ext cx="121920" cy="1571268"/>
          </a:xfrm>
          <a:prstGeom prst="roundRect">
            <a:avLst>
              <a:gd name="adj" fmla="val 26473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1204317" y="6249233"/>
            <a:ext cx="2897148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Conceptual Document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04317" y="6683931"/>
            <a:ext cx="3562350" cy="645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Described intentions rather than providing an auditable action plan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227439" y="6003608"/>
            <a:ext cx="4175522" cy="1571268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5227439" y="6003608"/>
            <a:ext cx="121920" cy="1571268"/>
          </a:xfrm>
          <a:prstGeom prst="roundRect">
            <a:avLst>
              <a:gd name="adj" fmla="val 26473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594985" y="6249233"/>
            <a:ext cx="3189208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Subjective Measurement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594985" y="6683931"/>
            <a:ext cx="3562350" cy="645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Used a 0,1,2,3 scale that only measured activity completion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618107" y="6003608"/>
            <a:ext cx="4175522" cy="1571268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9618107" y="6003608"/>
            <a:ext cx="121920" cy="1571268"/>
          </a:xfrm>
          <a:prstGeom prst="roundRect">
            <a:avLst>
              <a:gd name="adj" fmla="val 26473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9985653" y="6249233"/>
            <a:ext cx="2445068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Audit Risk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985653" y="6683931"/>
            <a:ext cx="3562350" cy="645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Could not provide objective proof of a positive cultural shift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840581"/>
            <a:ext cx="6011108" cy="525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New BRC Requirement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350198" y="1644134"/>
            <a:ext cx="7416403" cy="55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BRC Packaging Standard update is highly prescriptive. It demands that senior management defines a clear, effective plan for a product safety culture that includes: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350198" y="2685336"/>
            <a:ext cx="3615690" cy="215515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6350198" y="2662476"/>
            <a:ext cx="3615690" cy="9144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4"/>
          <p:cNvSpPr/>
          <p:nvPr/>
        </p:nvSpPr>
        <p:spPr>
          <a:xfrm>
            <a:off x="7880390" y="2407682"/>
            <a:ext cx="555308" cy="555308"/>
          </a:xfrm>
          <a:prstGeom prst="roundRect">
            <a:avLst>
              <a:gd name="adj" fmla="val 164665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8046958" y="2546509"/>
            <a:ext cx="222052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58082" y="3148132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Defined Activities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558082" y="3521988"/>
            <a:ext cx="3199924" cy="1110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Specifically designed around </a:t>
            </a:r>
            <a:r>
              <a:rPr lang="en-US" sz="14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communication, training, feedback, required behaviors, and performance measurement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0150912" y="2685336"/>
            <a:ext cx="3615690" cy="215515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10150912" y="2662476"/>
            <a:ext cx="3615690" cy="9144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11681103" y="2407682"/>
            <a:ext cx="555308" cy="555308"/>
          </a:xfrm>
          <a:prstGeom prst="roundRect">
            <a:avLst>
              <a:gd name="adj" fmla="val 164665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11847671" y="2546509"/>
            <a:ext cx="222052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0358795" y="3148132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 Action Plan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358795" y="3521988"/>
            <a:ext cx="3199924" cy="1110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Indicating </a:t>
            </a:r>
            <a:r>
              <a:rPr lang="en-US" sz="1450" b="1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activities will be undertaken, </a:t>
            </a:r>
            <a:r>
              <a:rPr lang="en-US" sz="1450" b="1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they will be completed, and </a:t>
            </a:r>
            <a:r>
              <a:rPr lang="en-US" sz="1450" b="1" i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</a:t>
            </a: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their effectiveness will be measured.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350198" y="5303163"/>
            <a:ext cx="7416403" cy="1322189"/>
          </a:xfrm>
          <a:prstGeom prst="roundRect">
            <a:avLst>
              <a:gd name="adj" fmla="val 82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5"/>
          <p:cNvSpPr/>
          <p:nvPr/>
        </p:nvSpPr>
        <p:spPr>
          <a:xfrm>
            <a:off x="6350198" y="5280303"/>
            <a:ext cx="7416403" cy="91440"/>
          </a:xfrm>
          <a:prstGeom prst="roundRect">
            <a:avLst>
              <a:gd name="adj" fmla="val 30368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6"/>
          <p:cNvSpPr/>
          <p:nvPr/>
        </p:nvSpPr>
        <p:spPr>
          <a:xfrm>
            <a:off x="9780746" y="5025509"/>
            <a:ext cx="555308" cy="555308"/>
          </a:xfrm>
          <a:prstGeom prst="roundRect">
            <a:avLst>
              <a:gd name="adj" fmla="val 164665"/>
            </a:avLst>
          </a:prstGeom>
          <a:solidFill>
            <a:srgbClr val="2D2E3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9947315" y="5164336"/>
            <a:ext cx="222052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558082" y="5765959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Review Process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558082" y="6139815"/>
            <a:ext cx="7000637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formal, documented review of the plan's effectiveness at least annually.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350198" y="6833592"/>
            <a:ext cx="7416403" cy="55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Our updated procedure is a shift from a descriptive document to an </a:t>
            </a:r>
            <a:r>
              <a:rPr lang="en-US" sz="14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auditable management system that meets these requirements.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50332"/>
            <a:ext cx="8597622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Module 2: The New Approach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1945243"/>
            <a:ext cx="129028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new approach is built on a foundation of proactive, data-driven management and is centered on five core pillars mandated by the BRC Standard.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882140" y="338006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Communication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3798" y="3878699"/>
            <a:ext cx="382321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Two-way dialogue between management and employees</a:t>
            </a:r>
            <a:endParaRPr lang="en-US" sz="1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0" y="2963228"/>
            <a:ext cx="4515922" cy="451592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516" y="3855244"/>
            <a:ext cx="369213" cy="4616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43267" y="2972991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43267" y="3471624"/>
            <a:ext cx="3823335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Ensuring competence, not just knowledge</a:t>
            </a:r>
            <a:endParaRPr lang="en-US" sz="1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180" y="2963228"/>
            <a:ext cx="4515922" cy="451592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0031" y="3593425"/>
            <a:ext cx="369213" cy="4616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66734" y="460164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Feedback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0066734" y="5100280"/>
            <a:ext cx="3699867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Formal mechanisms for employee input</a:t>
            </a:r>
            <a:endParaRPr lang="en-US" sz="1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180" y="2963228"/>
            <a:ext cx="4515922" cy="451592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7395" y="5261967"/>
            <a:ext cx="369213" cy="46160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943267" y="6230303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Behaviors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943267" y="6728936"/>
            <a:ext cx="3823335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Defined actions that improve product safety</a:t>
            </a:r>
            <a:endParaRPr lang="en-US" sz="19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7180" y="2963228"/>
            <a:ext cx="4515922" cy="4515922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3062" y="6555105"/>
            <a:ext cx="369213" cy="46160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882140" y="5823109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Measurement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863798" y="6321743"/>
            <a:ext cx="3823216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Objective KPIs to track cultural maturity</a:t>
            </a:r>
            <a:endParaRPr lang="en-US" sz="19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57180" y="2963228"/>
            <a:ext cx="4515922" cy="4515922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1071" y="5685592"/>
            <a:ext cx="369213" cy="461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02945"/>
            <a:ext cx="8539758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Five Core Pillars in Detail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021205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Communication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2688669"/>
            <a:ext cx="6150293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will move from one-way messaging to a two-way dialogue. By using formal channels (e.g. whatsapp, confidential reporting, annual survey) for employee feedback to ensure our message is understood and acted upon.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786313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863798" y="5453777"/>
            <a:ext cx="6150293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Training must go beyond simply providing knowledge; it must ensure competence. Maintain formal training with assessments to verify that employees can apply what they have learned. This ensures that training has a lasting impact on behavior.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2021205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Feedback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23929" y="2688669"/>
            <a:ext cx="615029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formal feedback mechanism has been implemented, such as a confidential portal. This demonstrates that we are actively soliciting employee input and that their concerns are not only received but acted upon.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4416147"/>
            <a:ext cx="441221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Behaviors (Main Change)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623929" y="5083612"/>
            <a:ext cx="6150293" cy="1850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behaviors have been defined required to maintain and improve product safety, such as proactive reporting and consistent practice. As managers, your role is to lead by example and demonstrate a personal commitment to these behaviors.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47167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D2E3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Measurement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863798" y="2061448"/>
            <a:ext cx="129028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subjective scoring system has been replaced with a dashboard of objective, quantitative Key Performance Indicators (KPIs). We will measure both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proactive indicators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(e.g., near-miss reporting rates, employee feedback participation) and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reactive indicators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(e.g., customer complaints, non-conformities). This provides a clear, data-driven picture of our cultural maturity.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3819763"/>
            <a:ext cx="6451402" cy="9872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0615" y="5053846"/>
            <a:ext cx="2944773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Proactive Indicators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0615" y="5552480"/>
            <a:ext cx="5957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Near-miss reporting rates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10615" y="6008965"/>
            <a:ext cx="5957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Employee feedback participation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10615" y="6465451"/>
            <a:ext cx="5957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Training completion and competency</a:t>
            </a:r>
            <a:endParaRPr lang="en-US" sz="1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819763"/>
            <a:ext cx="6451402" cy="9872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62017" y="5053846"/>
            <a:ext cx="282166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Reactive Indicators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562017" y="5552480"/>
            <a:ext cx="5957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complaints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562017" y="6008965"/>
            <a:ext cx="5957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Non-conformities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562017" y="6465451"/>
            <a:ext cx="59577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Audit findings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1052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Communication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505432"/>
            <a:ext cx="12902803" cy="4413528"/>
          </a:xfrm>
          <a:prstGeom prst="roundRect">
            <a:avLst>
              <a:gd name="adj" fmla="val 839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79038" y="2520672"/>
            <a:ext cx="12872323" cy="43830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126212" y="2676287"/>
            <a:ext cx="181046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Communication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437930" y="2676287"/>
            <a:ext cx="2140029" cy="407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 product safety information regularly through established channels (e.g. WhatsApp group, noticeboards, briefings) so all employees receive and understand key messages.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79212" y="2676287"/>
            <a:ext cx="144494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Operations Manager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025408" y="2676287"/>
            <a:ext cx="1764268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 times/Annum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290929" y="2676287"/>
            <a:ext cx="3213616" cy="296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= Messages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irregular or little engagement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= Regular messages,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partial engagement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 = Regular messages,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 engagement and interaction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1052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505432"/>
            <a:ext cx="12902803" cy="4413528"/>
          </a:xfrm>
          <a:prstGeom prst="roundRect">
            <a:avLst>
              <a:gd name="adj" fmla="val 839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79038" y="2520672"/>
            <a:ext cx="12872323" cy="438304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126212" y="2676287"/>
            <a:ext cx="118110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808565" y="2676287"/>
            <a:ext cx="2297073" cy="333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annual food safety training for all staff, ensure new employees are trained at induction, and confirm competence through refresher sessions or practical checks.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06891" y="2676287"/>
            <a:ext cx="229707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Operations Manager/Director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05217" y="2676287"/>
            <a:ext cx="944285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Annual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50755" y="2676287"/>
            <a:ext cx="3653790" cy="407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= Planned / Minimal /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Little or no verification of competency.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= Implemented / Partial/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Competency checks done but not consistent across all staff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.3 = Effective / Embedded/C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ompetency checks confirm staff can apply knowledge.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91051"/>
            <a:ext cx="4768334" cy="59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Feedback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863798" y="1806654"/>
            <a:ext cx="12902803" cy="5631775"/>
          </a:xfrm>
          <a:prstGeom prst="roundRect">
            <a:avLst>
              <a:gd name="adj" fmla="val 5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71418" y="1814274"/>
            <a:ext cx="12887563" cy="56165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81445" y="1947743"/>
            <a:ext cx="86665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Feedback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375297" y="1947743"/>
            <a:ext cx="1799749" cy="346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 employee feedback on product safety through surveys or direct reporting, and ensure responses are reviewed, acted upon, and communicated back to staff.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602242" y="1947743"/>
            <a:ext cx="1569006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Operations Manager/Director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98444" y="1947743"/>
            <a:ext cx="86153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Annual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887176" y="1947743"/>
            <a:ext cx="5662017" cy="5349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= </a:t>
            </a: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section scores are below 2.0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(out of 3 or 5 depending on survey design).Responses show inconsistent leadership commitment, weak communication, or lack of empowerment.Culture is still mostly compliance-driven (people do the minimum, often only when observed).2 = </a:t>
            </a: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section scores are between 2.0 and 3.5.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Employees generally understand their role, training is mostly effective, and some proactive behaviours are visible. Feedback mechanisms exist, but impact is uneven (e.g. some actions from feedback, but not consistently).3 = </a:t>
            </a:r>
            <a:r>
              <a:rPr lang="en-US" sz="16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section scores are above 3.5.</a:t>
            </a:r>
            <a:r>
              <a:rPr lang="en-US" sz="16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Leadership visibly prioritizes safety, communication is open, and employees feel empowered.Proactive reporting, accountability, and continuous learning are normalised behaviours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29283"/>
            <a:ext cx="5048726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Behaviours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863798" y="2004536"/>
            <a:ext cx="12902803" cy="5295781"/>
          </a:xfrm>
          <a:prstGeom prst="roundRect">
            <a:avLst>
              <a:gd name="adj" fmla="val 6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71418" y="2012156"/>
            <a:ext cx="12887563" cy="52805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93708" y="2153007"/>
            <a:ext cx="907852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Behaviours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453283" y="2153007"/>
            <a:ext cx="2360295" cy="26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Define and communicate expected food safety behaviours, with managers reinforcing them through daily leadership so staff apply them consistently without supervision.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65301" y="2153007"/>
            <a:ext cx="1208127" cy="99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Operations Manager/Director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25151" y="2153007"/>
            <a:ext cx="1424702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Annual &amp; Ongoing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01576" y="2153007"/>
            <a:ext cx="4735354" cy="4998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= Behaviours defined but not widely visible or reinforced.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Staff mostly comply when supervised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lapses when not observed.2 = Behaviours are communicated and partially adopted across teams. 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Most staff follow safety practices, but not always without prompting. 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Supervisors occasionally reinforce behaviours, but not systematically.3 = Behaviours are widely demonstrated without supervision.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 culture of proactive reporting, accountability, and empowerment.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Staff consistently adhere to protocols and encourage peers.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29283"/>
            <a:ext cx="7255907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Measurement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863798" y="2004536"/>
            <a:ext cx="12902803" cy="5295781"/>
          </a:xfrm>
          <a:prstGeom prst="roundRect">
            <a:avLst>
              <a:gd name="adj" fmla="val 6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71418" y="2012156"/>
            <a:ext cx="12887563" cy="52805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93708" y="2153007"/>
            <a:ext cx="1385888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Measurement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931319" y="2153007"/>
            <a:ext cx="1905357" cy="366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site will track and review KPIs on product safety, legality, and quality (e.g. complaints, audit findings, incidents, compliance checks) at set intervals to monitor culture and drive improvement.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88399" y="2153007"/>
            <a:ext cx="1746885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Senior Leadership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87007" y="2153007"/>
            <a:ext cx="837009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Annual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5740" y="2153007"/>
            <a:ext cx="4761190" cy="4998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= Key metrics (complaints, audit NCs, incidents, legal compliance)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are not consistently tracked or reviewed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Little or no evidence that performance data drives improvement.2 = Metrics are tracked regularly (monthly/quarterly) and reported to management. 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Evidence of progress in some areas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(e.g. fewer NCs), but not across all.3 = Metrics on safety, legality, and quality are systematically tracked and reviewed. R</a:t>
            </a:r>
            <a:r>
              <a:rPr lang="en-US" sz="17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esults show continuous improvement trends</a:t>
            </a:r>
            <a:r>
              <a:rPr lang="en-US" sz="17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(e.g. fewer complaints, stronger audit outcomes, full compliance).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67264"/>
            <a:ext cx="6168747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Module 3: Leadership Role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63798" y="1923098"/>
            <a:ext cx="1290280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 a manager, you are the cornerstone of this culture approach. Your v</a:t>
            </a:r>
            <a:r>
              <a:rPr lang="en-US" sz="15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isible commitment is the most important factor</a:t>
            </a: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shaping employee behavior.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63798" y="2441377"/>
            <a:ext cx="6352699" cy="1682472"/>
          </a:xfrm>
          <a:prstGeom prst="roundRect">
            <a:avLst>
              <a:gd name="adj" fmla="val 176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1061204" y="2638782"/>
            <a:ext cx="22438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Lead by Example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61204" y="3037761"/>
            <a:ext cx="5957888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Consistently follow all protocols, such as proper handwashing and wearing the correct attire. </a:t>
            </a:r>
            <a:r>
              <a:rPr lang="en-US" sz="15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Employees are more likely to adopt safe practices if they see management doing the same.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3903" y="2441377"/>
            <a:ext cx="6352699" cy="1682472"/>
          </a:xfrm>
          <a:prstGeom prst="roundRect">
            <a:avLst>
              <a:gd name="adj" fmla="val 176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611308" y="2638782"/>
            <a:ext cx="22438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Empowerment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11308" y="3037761"/>
            <a:ext cx="5957888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Foster a trusting and open environment where </a:t>
            </a:r>
            <a:r>
              <a:rPr lang="en-US" sz="15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employees feel empowered to raise concerns or report issues without fear of reprisal. </a:t>
            </a: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Empower them to take ownership and lead positive change.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3798" y="4321254"/>
            <a:ext cx="6352699" cy="1682472"/>
          </a:xfrm>
          <a:prstGeom prst="roundRect">
            <a:avLst>
              <a:gd name="adj" fmla="val 176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1061204" y="4518660"/>
            <a:ext cx="2360533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Reinforce Behaviors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61204" y="4917638"/>
            <a:ext cx="5957888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consistent, clear, and fair reinforcement to shape behaviours. </a:t>
            </a:r>
            <a:r>
              <a:rPr lang="en-US" sz="15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Acknowledge and reward positive actions and provide constructive feedback for areas of improvement.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13903" y="4321254"/>
            <a:ext cx="6352699" cy="1682472"/>
          </a:xfrm>
          <a:prstGeom prst="roundRect">
            <a:avLst>
              <a:gd name="adj" fmla="val 176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7611308" y="4518660"/>
            <a:ext cx="2243852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Utilize Data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11308" y="4917638"/>
            <a:ext cx="5957888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the new KPIs to identify trends, address gaps, and inform strategic decisions. </a:t>
            </a:r>
            <a:r>
              <a:rPr lang="en-US" sz="155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Regularly review the data from the Action Plan and discuss it with your teams.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59907" y="6447830"/>
            <a:ext cx="12606695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By embracing this  data-driven approach, we will not only achieve BRC compliance but also create a genuinely resilient and high-performing product safety culture.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63798" y="6225778"/>
            <a:ext cx="22860" cy="1036558"/>
          </a:xfrm>
          <a:prstGeom prst="rect">
            <a:avLst/>
          </a:prstGeom>
          <a:solidFill>
            <a:srgbClr val="2D2E34"/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1364</Words>
  <Application>Microsoft Office PowerPoint</Application>
  <PresentationFormat>Custom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Source Sans 3</vt:lpstr>
      <vt:lpstr>Arial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Clive Schlachter</cp:lastModifiedBy>
  <cp:revision>1</cp:revision>
  <dcterms:created xsi:type="dcterms:W3CDTF">2025-09-02T20:23:45Z</dcterms:created>
  <dcterms:modified xsi:type="dcterms:W3CDTF">2025-09-03T12:53:21Z</dcterms:modified>
</cp:coreProperties>
</file>