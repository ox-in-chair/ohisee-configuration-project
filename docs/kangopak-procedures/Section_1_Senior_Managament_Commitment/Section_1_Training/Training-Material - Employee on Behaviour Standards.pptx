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6797675" cy="9926638"/>
  <p:embeddedFontLst>
    <p:embeddedFont>
      <p:font typeface="Source Sans 3"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3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462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6888" tIns="33444" rIns="66888" bIns="33444"/>
          <a:lstStyle/>
          <a:p>
            <a:endParaRPr lang="en-US" dirty="0"/>
          </a:p>
        </p:txBody>
      </p:sp>
      <p:sp>
        <p:nvSpPr>
          <p:cNvPr id="4" name="Slide Number Placeholder 3"/>
          <p:cNvSpPr>
            <a:spLocks noGrp="1"/>
          </p:cNvSpPr>
          <p:nvPr>
            <p:ph type="sldNum" sz="quarter" idx="10"/>
          </p:nvPr>
        </p:nvSpPr>
        <p:spPr/>
        <p:txBody>
          <a:bodyPr lIns="66888" tIns="33444" rIns="66888" bIns="33444"/>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6888" tIns="33444" rIns="66888" bIns="33444"/>
          <a:lstStyle/>
          <a:p>
            <a:endParaRPr lang="en-US" dirty="0"/>
          </a:p>
        </p:txBody>
      </p:sp>
      <p:sp>
        <p:nvSpPr>
          <p:cNvPr id="4" name="Slide Number Placeholder 3"/>
          <p:cNvSpPr>
            <a:spLocks noGrp="1"/>
          </p:cNvSpPr>
          <p:nvPr>
            <p:ph type="sldNum" sz="quarter" idx="10"/>
          </p:nvPr>
        </p:nvSpPr>
        <p:spPr/>
        <p:txBody>
          <a:bodyPr lIns="66888" tIns="33444" rIns="66888" bIns="33444"/>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6888" tIns="33444" rIns="66888" bIns="33444"/>
          <a:lstStyle/>
          <a:p>
            <a:endParaRPr lang="en-US" dirty="0"/>
          </a:p>
        </p:txBody>
      </p:sp>
      <p:sp>
        <p:nvSpPr>
          <p:cNvPr id="4" name="Slide Number Placeholder 3"/>
          <p:cNvSpPr>
            <a:spLocks noGrp="1"/>
          </p:cNvSpPr>
          <p:nvPr>
            <p:ph type="sldNum" sz="quarter" idx="10"/>
          </p:nvPr>
        </p:nvSpPr>
        <p:spPr/>
        <p:txBody>
          <a:bodyPr lIns="66888" tIns="33444" rIns="66888" bIns="33444"/>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6888" tIns="33444" rIns="66888" bIns="33444"/>
          <a:lstStyle/>
          <a:p>
            <a:endParaRPr lang="en-US" dirty="0"/>
          </a:p>
        </p:txBody>
      </p:sp>
      <p:sp>
        <p:nvSpPr>
          <p:cNvPr id="4" name="Slide Number Placeholder 3"/>
          <p:cNvSpPr>
            <a:spLocks noGrp="1"/>
          </p:cNvSpPr>
          <p:nvPr>
            <p:ph type="sldNum" sz="quarter" idx="10"/>
          </p:nvPr>
        </p:nvSpPr>
        <p:spPr/>
        <p:txBody>
          <a:bodyPr lIns="66888" tIns="33444" rIns="66888" bIns="33444"/>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6888" tIns="33444" rIns="66888" bIns="33444"/>
          <a:lstStyle/>
          <a:p>
            <a:endParaRPr lang="en-US" dirty="0"/>
          </a:p>
        </p:txBody>
      </p:sp>
      <p:sp>
        <p:nvSpPr>
          <p:cNvPr id="4" name="Slide Number Placeholder 3"/>
          <p:cNvSpPr>
            <a:spLocks noGrp="1"/>
          </p:cNvSpPr>
          <p:nvPr>
            <p:ph type="sldNum" sz="quarter" idx="10"/>
          </p:nvPr>
        </p:nvSpPr>
        <p:spPr/>
        <p:txBody>
          <a:bodyPr lIns="66888" tIns="33444" rIns="66888" bIns="33444"/>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6888" tIns="33444" rIns="66888" bIns="33444"/>
          <a:lstStyle/>
          <a:p>
            <a:endParaRPr lang="en-US" dirty="0"/>
          </a:p>
        </p:txBody>
      </p:sp>
      <p:sp>
        <p:nvSpPr>
          <p:cNvPr id="4" name="Slide Number Placeholder 3"/>
          <p:cNvSpPr>
            <a:spLocks noGrp="1"/>
          </p:cNvSpPr>
          <p:nvPr>
            <p:ph type="sldNum" sz="quarter" idx="10"/>
          </p:nvPr>
        </p:nvSpPr>
        <p:spPr/>
        <p:txBody>
          <a:bodyPr lIns="66888" tIns="33444" rIns="66888" bIns="33444"/>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3798" y="1898809"/>
            <a:ext cx="8420338" cy="613529"/>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Training Material for Employees: </a:t>
            </a:r>
            <a:endParaRPr lang="en-US" sz="3850" dirty="0"/>
          </a:p>
        </p:txBody>
      </p:sp>
      <p:sp>
        <p:nvSpPr>
          <p:cNvPr id="3" name="Text 1"/>
          <p:cNvSpPr/>
          <p:nvPr/>
        </p:nvSpPr>
        <p:spPr>
          <a:xfrm>
            <a:off x="863798" y="2836188"/>
            <a:ext cx="7028974" cy="613529"/>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Your Role in Product Safety</a:t>
            </a:r>
            <a:endParaRPr lang="en-US" sz="3850" dirty="0"/>
          </a:p>
        </p:txBody>
      </p:sp>
      <p:sp>
        <p:nvSpPr>
          <p:cNvPr id="4" name="Text 2"/>
          <p:cNvSpPr/>
          <p:nvPr/>
        </p:nvSpPr>
        <p:spPr>
          <a:xfrm>
            <a:off x="863798" y="3773567"/>
            <a:ext cx="12902803" cy="323969"/>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This training is for all employees and focuses on the core behaviors that make our products safe.</a:t>
            </a:r>
            <a:endParaRPr lang="en-US" sz="1700" dirty="0"/>
          </a:p>
        </p:txBody>
      </p:sp>
      <p:sp>
        <p:nvSpPr>
          <p:cNvPr id="5" name="Text 3"/>
          <p:cNvSpPr/>
          <p:nvPr/>
        </p:nvSpPr>
        <p:spPr>
          <a:xfrm>
            <a:off x="863798" y="4421386"/>
            <a:ext cx="11640741" cy="613529"/>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Our Commitment to Safe Products: Your Role</a:t>
            </a:r>
            <a:endParaRPr lang="en-US" sz="3850" dirty="0"/>
          </a:p>
        </p:txBody>
      </p:sp>
      <p:sp>
        <p:nvSpPr>
          <p:cNvPr id="6" name="Text 4"/>
          <p:cNvSpPr/>
          <p:nvPr/>
        </p:nvSpPr>
        <p:spPr>
          <a:xfrm>
            <a:off x="863798" y="5358765"/>
            <a:ext cx="12902803"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Food safety is not just the job of a manager or a single department. It is a fundamental part of our culture. A strong product safety culture means that everyone—from managers to operators—thinks and acts in their daily job to make sure the food we make is safe. It's about taking pride, care, and responsibility for what you do, every single day.</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2049542"/>
            <a:ext cx="12238077" cy="613529"/>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The 3 Key Behaviors of a Food Safety Champion</a:t>
            </a:r>
            <a:endParaRPr lang="en-US" sz="3850" dirty="0"/>
          </a:p>
        </p:txBody>
      </p:sp>
      <p:sp>
        <p:nvSpPr>
          <p:cNvPr id="3" name="Text 1"/>
          <p:cNvSpPr/>
          <p:nvPr/>
        </p:nvSpPr>
        <p:spPr>
          <a:xfrm>
            <a:off x="863798" y="3094911"/>
            <a:ext cx="12902803"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Being a food safety champion is about what you do, especially when you think no one is watching. Here are the three most important behaviors we need from you:</a:t>
            </a:r>
            <a:endParaRPr lang="en-US" sz="1700" dirty="0"/>
          </a:p>
        </p:txBody>
      </p:sp>
      <p:sp>
        <p:nvSpPr>
          <p:cNvPr id="4" name="Shape 2"/>
          <p:cNvSpPr/>
          <p:nvPr/>
        </p:nvSpPr>
        <p:spPr>
          <a:xfrm>
            <a:off x="863798" y="4309586"/>
            <a:ext cx="4156948" cy="1870353"/>
          </a:xfrm>
          <a:prstGeom prst="roundRect">
            <a:avLst>
              <a:gd name="adj" fmla="val 7822"/>
            </a:avLst>
          </a:prstGeom>
          <a:solidFill>
            <a:srgbClr val="FFFFFF"/>
          </a:solidFill>
          <a:ln/>
        </p:spPr>
        <p:txBody>
          <a:bodyPr/>
          <a:lstStyle/>
          <a:p>
            <a:endParaRPr lang="en-ZA"/>
          </a:p>
        </p:txBody>
      </p:sp>
      <p:sp>
        <p:nvSpPr>
          <p:cNvPr id="5" name="Shape 3"/>
          <p:cNvSpPr/>
          <p:nvPr/>
        </p:nvSpPr>
        <p:spPr>
          <a:xfrm>
            <a:off x="863798" y="4279106"/>
            <a:ext cx="4156948" cy="121920"/>
          </a:xfrm>
          <a:prstGeom prst="roundRect">
            <a:avLst>
              <a:gd name="adj" fmla="val 26572"/>
            </a:avLst>
          </a:prstGeom>
          <a:solidFill>
            <a:srgbClr val="2D2E34"/>
          </a:solidFill>
          <a:ln/>
        </p:spPr>
        <p:txBody>
          <a:bodyPr/>
          <a:lstStyle/>
          <a:p>
            <a:endParaRPr lang="en-ZA"/>
          </a:p>
        </p:txBody>
      </p:sp>
      <p:sp>
        <p:nvSpPr>
          <p:cNvPr id="6" name="Shape 4"/>
          <p:cNvSpPr/>
          <p:nvPr/>
        </p:nvSpPr>
        <p:spPr>
          <a:xfrm>
            <a:off x="2618363" y="3985736"/>
            <a:ext cx="647819" cy="647819"/>
          </a:xfrm>
          <a:prstGeom prst="roundRect">
            <a:avLst>
              <a:gd name="adj" fmla="val 141151"/>
            </a:avLst>
          </a:prstGeom>
          <a:solidFill>
            <a:srgbClr val="2D2E34"/>
          </a:solidFill>
          <a:ln/>
        </p:spPr>
        <p:txBody>
          <a:bodyPr/>
          <a:lstStyle/>
          <a:p>
            <a:endParaRPr lang="en-ZA"/>
          </a:p>
        </p:txBody>
      </p:sp>
      <p:sp>
        <p:nvSpPr>
          <p:cNvPr id="7" name="Text 5"/>
          <p:cNvSpPr/>
          <p:nvPr/>
        </p:nvSpPr>
        <p:spPr>
          <a:xfrm>
            <a:off x="2812673" y="4147661"/>
            <a:ext cx="259080" cy="323850"/>
          </a:xfrm>
          <a:prstGeom prst="rect">
            <a:avLst/>
          </a:prstGeom>
          <a:noFill/>
          <a:ln/>
        </p:spPr>
        <p:txBody>
          <a:bodyPr wrap="none" lIns="0" tIns="0" rIns="0" bIns="0" rtlCol="0" anchor="t"/>
          <a:lstStyle/>
          <a:p>
            <a:pPr marL="0" indent="0" algn="l">
              <a:lnSpc>
                <a:spcPts val="3050"/>
              </a:lnSpc>
              <a:buNone/>
            </a:pPr>
            <a:r>
              <a:rPr lang="en-US" sz="2000" b="1" dirty="0">
                <a:solidFill>
                  <a:srgbClr val="FFFFFF"/>
                </a:solidFill>
                <a:latin typeface="Montserrat Bold" pitchFamily="34" charset="0"/>
                <a:ea typeface="Montserrat Bold" pitchFamily="34" charset="-122"/>
                <a:cs typeface="Montserrat Bold" pitchFamily="34" charset="-120"/>
              </a:rPr>
              <a:t>1</a:t>
            </a:r>
            <a:endParaRPr lang="en-US" sz="2000" dirty="0"/>
          </a:p>
        </p:txBody>
      </p:sp>
      <p:sp>
        <p:nvSpPr>
          <p:cNvPr id="8" name="Text 6"/>
          <p:cNvSpPr/>
          <p:nvPr/>
        </p:nvSpPr>
        <p:spPr>
          <a:xfrm>
            <a:off x="1110139" y="4849416"/>
            <a:ext cx="2999184"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Personal Responsibility</a:t>
            </a:r>
            <a:endParaRPr lang="en-US" sz="1900" dirty="0"/>
          </a:p>
        </p:txBody>
      </p:sp>
      <p:sp>
        <p:nvSpPr>
          <p:cNvPr id="9" name="Text 7"/>
          <p:cNvSpPr/>
          <p:nvPr/>
        </p:nvSpPr>
        <p:spPr>
          <a:xfrm>
            <a:off x="1110139" y="5285661"/>
            <a:ext cx="3664268"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Taking ownership of product safety in your daily work</a:t>
            </a:r>
            <a:endParaRPr lang="en-US" sz="1700" dirty="0"/>
          </a:p>
        </p:txBody>
      </p:sp>
      <p:sp>
        <p:nvSpPr>
          <p:cNvPr id="10" name="Shape 8"/>
          <p:cNvSpPr/>
          <p:nvPr/>
        </p:nvSpPr>
        <p:spPr>
          <a:xfrm>
            <a:off x="5236607" y="4309586"/>
            <a:ext cx="4157067" cy="1870353"/>
          </a:xfrm>
          <a:prstGeom prst="roundRect">
            <a:avLst>
              <a:gd name="adj" fmla="val 7822"/>
            </a:avLst>
          </a:prstGeom>
          <a:solidFill>
            <a:srgbClr val="FFFFFF"/>
          </a:solidFill>
          <a:ln/>
        </p:spPr>
        <p:txBody>
          <a:bodyPr/>
          <a:lstStyle/>
          <a:p>
            <a:endParaRPr lang="en-ZA"/>
          </a:p>
        </p:txBody>
      </p:sp>
      <p:sp>
        <p:nvSpPr>
          <p:cNvPr id="11" name="Shape 9"/>
          <p:cNvSpPr/>
          <p:nvPr/>
        </p:nvSpPr>
        <p:spPr>
          <a:xfrm>
            <a:off x="5236607" y="4279106"/>
            <a:ext cx="4157067" cy="121920"/>
          </a:xfrm>
          <a:prstGeom prst="roundRect">
            <a:avLst>
              <a:gd name="adj" fmla="val 26572"/>
            </a:avLst>
          </a:prstGeom>
          <a:solidFill>
            <a:srgbClr val="2D2E34"/>
          </a:solidFill>
          <a:ln/>
        </p:spPr>
        <p:txBody>
          <a:bodyPr/>
          <a:lstStyle/>
          <a:p>
            <a:endParaRPr lang="en-ZA"/>
          </a:p>
        </p:txBody>
      </p:sp>
      <p:sp>
        <p:nvSpPr>
          <p:cNvPr id="12" name="Shape 10"/>
          <p:cNvSpPr/>
          <p:nvPr/>
        </p:nvSpPr>
        <p:spPr>
          <a:xfrm>
            <a:off x="6991171" y="3985736"/>
            <a:ext cx="647819" cy="647819"/>
          </a:xfrm>
          <a:prstGeom prst="roundRect">
            <a:avLst>
              <a:gd name="adj" fmla="val 141151"/>
            </a:avLst>
          </a:prstGeom>
          <a:solidFill>
            <a:srgbClr val="2D2E34"/>
          </a:solidFill>
          <a:ln/>
        </p:spPr>
        <p:txBody>
          <a:bodyPr/>
          <a:lstStyle/>
          <a:p>
            <a:endParaRPr lang="en-ZA"/>
          </a:p>
        </p:txBody>
      </p:sp>
      <p:sp>
        <p:nvSpPr>
          <p:cNvPr id="13" name="Text 11"/>
          <p:cNvSpPr/>
          <p:nvPr/>
        </p:nvSpPr>
        <p:spPr>
          <a:xfrm>
            <a:off x="7185481" y="4147661"/>
            <a:ext cx="259080" cy="323850"/>
          </a:xfrm>
          <a:prstGeom prst="rect">
            <a:avLst/>
          </a:prstGeom>
          <a:noFill/>
          <a:ln/>
        </p:spPr>
        <p:txBody>
          <a:bodyPr wrap="none" lIns="0" tIns="0" rIns="0" bIns="0" rtlCol="0" anchor="t"/>
          <a:lstStyle/>
          <a:p>
            <a:pPr marL="0" indent="0" algn="l">
              <a:lnSpc>
                <a:spcPts val="3050"/>
              </a:lnSpc>
              <a:buNone/>
            </a:pPr>
            <a:r>
              <a:rPr lang="en-US" sz="2000" b="1" dirty="0">
                <a:solidFill>
                  <a:srgbClr val="FFFFFF"/>
                </a:solidFill>
                <a:latin typeface="Montserrat Bold" pitchFamily="34" charset="0"/>
                <a:ea typeface="Montserrat Bold" pitchFamily="34" charset="-122"/>
                <a:cs typeface="Montserrat Bold" pitchFamily="34" charset="-120"/>
              </a:rPr>
              <a:t>2</a:t>
            </a:r>
            <a:endParaRPr lang="en-US" sz="2000" dirty="0"/>
          </a:p>
        </p:txBody>
      </p:sp>
      <p:sp>
        <p:nvSpPr>
          <p:cNvPr id="14" name="Text 12"/>
          <p:cNvSpPr/>
          <p:nvPr/>
        </p:nvSpPr>
        <p:spPr>
          <a:xfrm>
            <a:off x="5482947" y="4849416"/>
            <a:ext cx="3370778"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Speak Up and Take Action</a:t>
            </a:r>
            <a:endParaRPr lang="en-US" sz="1900" dirty="0"/>
          </a:p>
        </p:txBody>
      </p:sp>
      <p:sp>
        <p:nvSpPr>
          <p:cNvPr id="15" name="Text 13"/>
          <p:cNvSpPr/>
          <p:nvPr/>
        </p:nvSpPr>
        <p:spPr>
          <a:xfrm>
            <a:off x="5482947" y="5285661"/>
            <a:ext cx="3664387"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Reporting issues and preventing problems before they start</a:t>
            </a:r>
            <a:endParaRPr lang="en-US" sz="1700" dirty="0"/>
          </a:p>
        </p:txBody>
      </p:sp>
      <p:sp>
        <p:nvSpPr>
          <p:cNvPr id="16" name="Shape 14"/>
          <p:cNvSpPr/>
          <p:nvPr/>
        </p:nvSpPr>
        <p:spPr>
          <a:xfrm>
            <a:off x="9609534" y="4309586"/>
            <a:ext cx="4157067" cy="1870353"/>
          </a:xfrm>
          <a:prstGeom prst="roundRect">
            <a:avLst>
              <a:gd name="adj" fmla="val 7822"/>
            </a:avLst>
          </a:prstGeom>
          <a:solidFill>
            <a:srgbClr val="FFFFFF"/>
          </a:solidFill>
          <a:ln/>
        </p:spPr>
        <p:txBody>
          <a:bodyPr/>
          <a:lstStyle/>
          <a:p>
            <a:endParaRPr lang="en-ZA"/>
          </a:p>
        </p:txBody>
      </p:sp>
      <p:sp>
        <p:nvSpPr>
          <p:cNvPr id="17" name="Shape 15"/>
          <p:cNvSpPr/>
          <p:nvPr/>
        </p:nvSpPr>
        <p:spPr>
          <a:xfrm>
            <a:off x="9609534" y="4279106"/>
            <a:ext cx="4157067" cy="121920"/>
          </a:xfrm>
          <a:prstGeom prst="roundRect">
            <a:avLst>
              <a:gd name="adj" fmla="val 26572"/>
            </a:avLst>
          </a:prstGeom>
          <a:solidFill>
            <a:srgbClr val="2D2E34"/>
          </a:solidFill>
          <a:ln/>
        </p:spPr>
        <p:txBody>
          <a:bodyPr/>
          <a:lstStyle/>
          <a:p>
            <a:endParaRPr lang="en-ZA"/>
          </a:p>
        </p:txBody>
      </p:sp>
      <p:sp>
        <p:nvSpPr>
          <p:cNvPr id="18" name="Shape 16"/>
          <p:cNvSpPr/>
          <p:nvPr/>
        </p:nvSpPr>
        <p:spPr>
          <a:xfrm>
            <a:off x="11364099" y="3985736"/>
            <a:ext cx="647819" cy="647819"/>
          </a:xfrm>
          <a:prstGeom prst="roundRect">
            <a:avLst>
              <a:gd name="adj" fmla="val 141151"/>
            </a:avLst>
          </a:prstGeom>
          <a:solidFill>
            <a:srgbClr val="2D2E34"/>
          </a:solidFill>
          <a:ln/>
        </p:spPr>
        <p:txBody>
          <a:bodyPr/>
          <a:lstStyle/>
          <a:p>
            <a:endParaRPr lang="en-ZA"/>
          </a:p>
        </p:txBody>
      </p:sp>
      <p:sp>
        <p:nvSpPr>
          <p:cNvPr id="19" name="Text 17"/>
          <p:cNvSpPr/>
          <p:nvPr/>
        </p:nvSpPr>
        <p:spPr>
          <a:xfrm>
            <a:off x="11558409" y="4147661"/>
            <a:ext cx="259080" cy="323850"/>
          </a:xfrm>
          <a:prstGeom prst="rect">
            <a:avLst/>
          </a:prstGeom>
          <a:noFill/>
          <a:ln/>
        </p:spPr>
        <p:txBody>
          <a:bodyPr wrap="none" lIns="0" tIns="0" rIns="0" bIns="0" rtlCol="0" anchor="t"/>
          <a:lstStyle/>
          <a:p>
            <a:pPr marL="0" indent="0" algn="l">
              <a:lnSpc>
                <a:spcPts val="3050"/>
              </a:lnSpc>
              <a:buNone/>
            </a:pPr>
            <a:r>
              <a:rPr lang="en-US" sz="2000" b="1" dirty="0">
                <a:solidFill>
                  <a:srgbClr val="FFFFFF"/>
                </a:solidFill>
                <a:latin typeface="Montserrat Bold" pitchFamily="34" charset="0"/>
                <a:ea typeface="Montserrat Bold" pitchFamily="34" charset="-122"/>
                <a:cs typeface="Montserrat Bold" pitchFamily="34" charset="-120"/>
              </a:rPr>
              <a:t>3</a:t>
            </a:r>
            <a:endParaRPr lang="en-US" sz="2000" dirty="0"/>
          </a:p>
        </p:txBody>
      </p:sp>
      <p:sp>
        <p:nvSpPr>
          <p:cNvPr id="20" name="Text 18"/>
          <p:cNvSpPr/>
          <p:nvPr/>
        </p:nvSpPr>
        <p:spPr>
          <a:xfrm>
            <a:off x="9855875" y="4849416"/>
            <a:ext cx="2901077"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Understand the "Why"</a:t>
            </a:r>
            <a:endParaRPr lang="en-US" sz="1900" dirty="0"/>
          </a:p>
        </p:txBody>
      </p:sp>
      <p:sp>
        <p:nvSpPr>
          <p:cNvPr id="21" name="Text 19"/>
          <p:cNvSpPr/>
          <p:nvPr/>
        </p:nvSpPr>
        <p:spPr>
          <a:xfrm>
            <a:off x="9855875" y="5285661"/>
            <a:ext cx="3664387"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Knowing the reasons behind safety procedures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1632942"/>
            <a:ext cx="6001226" cy="613529"/>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Personal Responsibility</a:t>
            </a:r>
            <a:endParaRPr lang="en-US" sz="3850" dirty="0"/>
          </a:p>
        </p:txBody>
      </p:sp>
      <p:sp>
        <p:nvSpPr>
          <p:cNvPr id="3" name="Text 1"/>
          <p:cNvSpPr/>
          <p:nvPr/>
        </p:nvSpPr>
        <p:spPr>
          <a:xfrm>
            <a:off x="863798" y="2678311"/>
            <a:ext cx="12902803" cy="323969"/>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You are responsible for the safety of our products. This means:</a:t>
            </a:r>
            <a:endParaRPr lang="en-US" sz="1700" dirty="0"/>
          </a:p>
        </p:txBody>
      </p:sp>
      <p:sp>
        <p:nvSpPr>
          <p:cNvPr id="4" name="Shape 2"/>
          <p:cNvSpPr/>
          <p:nvPr/>
        </p:nvSpPr>
        <p:spPr>
          <a:xfrm>
            <a:off x="863798" y="3245168"/>
            <a:ext cx="4156948" cy="3351490"/>
          </a:xfrm>
          <a:prstGeom prst="roundRect">
            <a:avLst>
              <a:gd name="adj" fmla="val 967"/>
            </a:avLst>
          </a:prstGeom>
          <a:solidFill>
            <a:srgbClr val="F2EEEE"/>
          </a:solidFill>
          <a:ln/>
        </p:spPr>
        <p:txBody>
          <a:bodyPr/>
          <a:lstStyle/>
          <a:p>
            <a:endParaRPr lang="en-ZA"/>
          </a:p>
        </p:txBody>
      </p:sp>
      <p:sp>
        <p:nvSpPr>
          <p:cNvPr id="5" name="Shape 3"/>
          <p:cNvSpPr/>
          <p:nvPr/>
        </p:nvSpPr>
        <p:spPr>
          <a:xfrm>
            <a:off x="1079659" y="3461028"/>
            <a:ext cx="647819" cy="647819"/>
          </a:xfrm>
          <a:prstGeom prst="roundRect">
            <a:avLst>
              <a:gd name="adj" fmla="val 14113642"/>
            </a:avLst>
          </a:prstGeom>
          <a:solidFill>
            <a:srgbClr val="2D2E34"/>
          </a:solidFill>
          <a:ln/>
        </p:spPr>
        <p:txBody>
          <a:bodyPr/>
          <a:lstStyle/>
          <a:p>
            <a:endParaRPr lang="en-ZA"/>
          </a:p>
        </p:txBody>
      </p:sp>
      <p:pic>
        <p:nvPicPr>
          <p:cNvPr id="6" name="Image 0" descr="preencoded.png"/>
          <p:cNvPicPr>
            <a:picLocks noChangeAspect="1"/>
          </p:cNvPicPr>
          <p:nvPr/>
        </p:nvPicPr>
        <p:blipFill>
          <a:blip r:embed="rId3"/>
          <a:stretch>
            <a:fillRect/>
          </a:stretch>
        </p:blipFill>
        <p:spPr>
          <a:xfrm>
            <a:off x="1257776" y="3602712"/>
            <a:ext cx="291465" cy="364450"/>
          </a:xfrm>
          <a:prstGeom prst="rect">
            <a:avLst/>
          </a:prstGeom>
        </p:spPr>
      </p:pic>
      <p:sp>
        <p:nvSpPr>
          <p:cNvPr id="7" name="Text 4"/>
          <p:cNvSpPr/>
          <p:nvPr/>
        </p:nvSpPr>
        <p:spPr>
          <a:xfrm>
            <a:off x="1079659" y="4324707"/>
            <a:ext cx="3685223"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Follow Protocols, Every Time</a:t>
            </a:r>
            <a:endParaRPr lang="en-US" sz="1900" dirty="0"/>
          </a:p>
        </p:txBody>
      </p:sp>
      <p:sp>
        <p:nvSpPr>
          <p:cNvPr id="8" name="Text 5"/>
          <p:cNvSpPr/>
          <p:nvPr/>
        </p:nvSpPr>
        <p:spPr>
          <a:xfrm>
            <a:off x="1079659" y="4760952"/>
            <a:ext cx="3725228" cy="1295876"/>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Simple things, like proper handwashing, wearing the right personal protective equipment, and following documented procedures, are non-negotiable.</a:t>
            </a:r>
            <a:endParaRPr lang="en-US" sz="1700" dirty="0"/>
          </a:p>
        </p:txBody>
      </p:sp>
      <p:sp>
        <p:nvSpPr>
          <p:cNvPr id="9" name="Shape 6"/>
          <p:cNvSpPr/>
          <p:nvPr/>
        </p:nvSpPr>
        <p:spPr>
          <a:xfrm>
            <a:off x="5236607" y="3245168"/>
            <a:ext cx="4157067" cy="3351490"/>
          </a:xfrm>
          <a:prstGeom prst="roundRect">
            <a:avLst>
              <a:gd name="adj" fmla="val 967"/>
            </a:avLst>
          </a:prstGeom>
          <a:solidFill>
            <a:srgbClr val="F2EEEE"/>
          </a:solidFill>
          <a:ln/>
        </p:spPr>
        <p:txBody>
          <a:bodyPr/>
          <a:lstStyle/>
          <a:p>
            <a:endParaRPr lang="en-ZA"/>
          </a:p>
        </p:txBody>
      </p:sp>
      <p:sp>
        <p:nvSpPr>
          <p:cNvPr id="10" name="Shape 7"/>
          <p:cNvSpPr/>
          <p:nvPr/>
        </p:nvSpPr>
        <p:spPr>
          <a:xfrm>
            <a:off x="5452467" y="3461028"/>
            <a:ext cx="647819" cy="647819"/>
          </a:xfrm>
          <a:prstGeom prst="roundRect">
            <a:avLst>
              <a:gd name="adj" fmla="val 14113642"/>
            </a:avLst>
          </a:prstGeom>
          <a:solidFill>
            <a:srgbClr val="2D2E34"/>
          </a:solidFill>
          <a:ln/>
        </p:spPr>
        <p:txBody>
          <a:bodyPr/>
          <a:lstStyle/>
          <a:p>
            <a:endParaRPr lang="en-ZA"/>
          </a:p>
        </p:txBody>
      </p:sp>
      <p:pic>
        <p:nvPicPr>
          <p:cNvPr id="11" name="Image 1" descr="preencoded.png"/>
          <p:cNvPicPr>
            <a:picLocks noChangeAspect="1"/>
          </p:cNvPicPr>
          <p:nvPr/>
        </p:nvPicPr>
        <p:blipFill>
          <a:blip r:embed="rId4"/>
          <a:stretch>
            <a:fillRect/>
          </a:stretch>
        </p:blipFill>
        <p:spPr>
          <a:xfrm>
            <a:off x="5630585" y="3602712"/>
            <a:ext cx="291465" cy="364450"/>
          </a:xfrm>
          <a:prstGeom prst="rect">
            <a:avLst/>
          </a:prstGeom>
        </p:spPr>
      </p:pic>
      <p:sp>
        <p:nvSpPr>
          <p:cNvPr id="12" name="Text 8"/>
          <p:cNvSpPr/>
          <p:nvPr/>
        </p:nvSpPr>
        <p:spPr>
          <a:xfrm>
            <a:off x="5452467" y="4324707"/>
            <a:ext cx="2690693"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Don't Take Shortcuts</a:t>
            </a:r>
            <a:endParaRPr lang="en-US" sz="1900" dirty="0"/>
          </a:p>
        </p:txBody>
      </p:sp>
      <p:sp>
        <p:nvSpPr>
          <p:cNvPr id="13" name="Text 9"/>
          <p:cNvSpPr/>
          <p:nvPr/>
        </p:nvSpPr>
        <p:spPr>
          <a:xfrm>
            <a:off x="5452467" y="4760952"/>
            <a:ext cx="3725347" cy="1619845"/>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The right way is the only way. Even if it seems faster to cut a corner, it's not worth the risk. Your consistent practice is what protects our consumers and our company.</a:t>
            </a:r>
            <a:endParaRPr lang="en-US" sz="1700" dirty="0"/>
          </a:p>
        </p:txBody>
      </p:sp>
      <p:sp>
        <p:nvSpPr>
          <p:cNvPr id="14" name="Shape 10"/>
          <p:cNvSpPr/>
          <p:nvPr/>
        </p:nvSpPr>
        <p:spPr>
          <a:xfrm>
            <a:off x="9609534" y="3245168"/>
            <a:ext cx="4157067" cy="3351490"/>
          </a:xfrm>
          <a:prstGeom prst="roundRect">
            <a:avLst>
              <a:gd name="adj" fmla="val 967"/>
            </a:avLst>
          </a:prstGeom>
          <a:solidFill>
            <a:srgbClr val="F2EEEE"/>
          </a:solidFill>
          <a:ln/>
        </p:spPr>
        <p:txBody>
          <a:bodyPr/>
          <a:lstStyle/>
          <a:p>
            <a:endParaRPr lang="en-ZA"/>
          </a:p>
        </p:txBody>
      </p:sp>
      <p:sp>
        <p:nvSpPr>
          <p:cNvPr id="15" name="Shape 11"/>
          <p:cNvSpPr/>
          <p:nvPr/>
        </p:nvSpPr>
        <p:spPr>
          <a:xfrm>
            <a:off x="9825395" y="3461028"/>
            <a:ext cx="647819" cy="647819"/>
          </a:xfrm>
          <a:prstGeom prst="roundRect">
            <a:avLst>
              <a:gd name="adj" fmla="val 14113642"/>
            </a:avLst>
          </a:prstGeom>
          <a:solidFill>
            <a:srgbClr val="2D2E34"/>
          </a:solidFill>
          <a:ln/>
        </p:spPr>
        <p:txBody>
          <a:bodyPr/>
          <a:lstStyle/>
          <a:p>
            <a:endParaRPr lang="en-ZA"/>
          </a:p>
        </p:txBody>
      </p:sp>
      <p:pic>
        <p:nvPicPr>
          <p:cNvPr id="16" name="Image 2" descr="preencoded.png"/>
          <p:cNvPicPr>
            <a:picLocks noChangeAspect="1"/>
          </p:cNvPicPr>
          <p:nvPr/>
        </p:nvPicPr>
        <p:blipFill>
          <a:blip r:embed="rId5"/>
          <a:stretch>
            <a:fillRect/>
          </a:stretch>
        </p:blipFill>
        <p:spPr>
          <a:xfrm>
            <a:off x="10003512" y="3602712"/>
            <a:ext cx="291465" cy="364450"/>
          </a:xfrm>
          <a:prstGeom prst="rect">
            <a:avLst/>
          </a:prstGeom>
        </p:spPr>
      </p:pic>
      <p:sp>
        <p:nvSpPr>
          <p:cNvPr id="17" name="Text 12"/>
          <p:cNvSpPr/>
          <p:nvPr/>
        </p:nvSpPr>
        <p:spPr>
          <a:xfrm>
            <a:off x="9825395" y="4324707"/>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Be a Role Model</a:t>
            </a:r>
            <a:endParaRPr lang="en-US" sz="1900" dirty="0"/>
          </a:p>
        </p:txBody>
      </p:sp>
      <p:sp>
        <p:nvSpPr>
          <p:cNvPr id="18" name="Text 13"/>
          <p:cNvSpPr/>
          <p:nvPr/>
        </p:nvSpPr>
        <p:spPr>
          <a:xfrm>
            <a:off x="9825395" y="4760952"/>
            <a:ext cx="3725347"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You set the example for your coworkers. Your actions show what is truly important in our workplace.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1956673"/>
            <a:ext cx="6744772" cy="613529"/>
          </a:xfrm>
          <a:prstGeom prst="rect">
            <a:avLst/>
          </a:prstGeom>
          <a:noFill/>
          <a:ln/>
        </p:spPr>
        <p:txBody>
          <a:bodyPr wrap="none" lIns="0" tIns="0" rIns="0" bIns="0" rtlCol="0" anchor="t"/>
          <a:lstStyle/>
          <a:p>
            <a:pPr marL="0" indent="0" algn="l">
              <a:lnSpc>
                <a:spcPts val="4800"/>
              </a:lnSpc>
              <a:buNone/>
            </a:pPr>
            <a:r>
              <a:rPr lang="en-US" sz="3850" b="1" dirty="0">
                <a:solidFill>
                  <a:srgbClr val="2D2E34"/>
                </a:solidFill>
                <a:latin typeface="Montserrat Bold" pitchFamily="34" charset="0"/>
                <a:ea typeface="Montserrat Bold" pitchFamily="34" charset="-122"/>
                <a:cs typeface="Montserrat Bold" pitchFamily="34" charset="-120"/>
              </a:rPr>
              <a:t>Speak Up and Take Action</a:t>
            </a:r>
            <a:endParaRPr lang="en-US" sz="3850" dirty="0"/>
          </a:p>
        </p:txBody>
      </p:sp>
      <p:sp>
        <p:nvSpPr>
          <p:cNvPr id="3" name="Text 1"/>
          <p:cNvSpPr/>
          <p:nvPr/>
        </p:nvSpPr>
        <p:spPr>
          <a:xfrm>
            <a:off x="863798" y="3002042"/>
            <a:ext cx="12902803" cy="323969"/>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You have the power to stop a problem before it starts.</a:t>
            </a:r>
            <a:endParaRPr lang="en-US" sz="1700" dirty="0"/>
          </a:p>
        </p:txBody>
      </p:sp>
      <p:sp>
        <p:nvSpPr>
          <p:cNvPr id="4" name="Text 2"/>
          <p:cNvSpPr/>
          <p:nvPr/>
        </p:nvSpPr>
        <p:spPr>
          <a:xfrm>
            <a:off x="1565553" y="3568898"/>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Report Everything</a:t>
            </a:r>
            <a:endParaRPr lang="en-US" sz="1900" dirty="0"/>
          </a:p>
        </p:txBody>
      </p:sp>
      <p:sp>
        <p:nvSpPr>
          <p:cNvPr id="5" name="Text 3"/>
          <p:cNvSpPr/>
          <p:nvPr/>
        </p:nvSpPr>
        <p:spPr>
          <a:xfrm>
            <a:off x="1565553" y="4005143"/>
            <a:ext cx="3419237" cy="2267783"/>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If you see something unsafe, like a piece of equipment that's not working right or a material that looks wrong, report it immediately to your manager. It's not about getting someone in trouble; it's about making sure everyone stays safe.</a:t>
            </a:r>
            <a:endParaRPr lang="en-US" sz="1700" dirty="0"/>
          </a:p>
        </p:txBody>
      </p:sp>
      <p:sp>
        <p:nvSpPr>
          <p:cNvPr id="6" name="Text 4"/>
          <p:cNvSpPr/>
          <p:nvPr/>
        </p:nvSpPr>
        <p:spPr>
          <a:xfrm>
            <a:off x="5956459" y="3568898"/>
            <a:ext cx="2502813"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Report Near-Misses</a:t>
            </a:r>
            <a:endParaRPr lang="en-US" sz="1900" dirty="0"/>
          </a:p>
        </p:txBody>
      </p:sp>
      <p:sp>
        <p:nvSpPr>
          <p:cNvPr id="7" name="Text 5"/>
          <p:cNvSpPr/>
          <p:nvPr/>
        </p:nvSpPr>
        <p:spPr>
          <a:xfrm>
            <a:off x="5956459" y="4005143"/>
            <a:ext cx="3419237" cy="1619845"/>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If you almost had a problem, tell us about it. A "near-miss" is an opportunity to learn so that the same thing doesn't happen to someone else.</a:t>
            </a:r>
            <a:endParaRPr lang="en-US" sz="1700" dirty="0"/>
          </a:p>
        </p:txBody>
      </p:sp>
      <p:sp>
        <p:nvSpPr>
          <p:cNvPr id="8" name="Text 6"/>
          <p:cNvSpPr/>
          <p:nvPr/>
        </p:nvSpPr>
        <p:spPr>
          <a:xfrm>
            <a:off x="10347365" y="3568898"/>
            <a:ext cx="3263384"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No Fear of Consequences</a:t>
            </a:r>
            <a:endParaRPr lang="en-US" sz="1900" dirty="0"/>
          </a:p>
        </p:txBody>
      </p:sp>
      <p:sp>
        <p:nvSpPr>
          <p:cNvPr id="9" name="Text 7"/>
          <p:cNvSpPr/>
          <p:nvPr/>
        </p:nvSpPr>
        <p:spPr>
          <a:xfrm>
            <a:off x="10347365" y="4005143"/>
            <a:ext cx="3419237" cy="1619845"/>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We need you to feel comfortable raising concerns. There will be no negative consequences for speaking up. We value your input because it makes our entire company safer.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2142292"/>
            <a:ext cx="5804892" cy="613529"/>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Understand the "Why"</a:t>
            </a:r>
            <a:endParaRPr lang="en-US" sz="3850" dirty="0"/>
          </a:p>
        </p:txBody>
      </p:sp>
      <p:sp>
        <p:nvSpPr>
          <p:cNvPr id="3" name="Text 1"/>
          <p:cNvSpPr/>
          <p:nvPr/>
        </p:nvSpPr>
        <p:spPr>
          <a:xfrm>
            <a:off x="863798" y="3079671"/>
            <a:ext cx="12902803" cy="323969"/>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Knowing why we do things is as important as knowing what to do.</a:t>
            </a:r>
            <a:endParaRPr lang="en-US" sz="1700" dirty="0"/>
          </a:p>
        </p:txBody>
      </p:sp>
      <p:sp>
        <p:nvSpPr>
          <p:cNvPr id="4" name="Shape 2"/>
          <p:cNvSpPr/>
          <p:nvPr/>
        </p:nvSpPr>
        <p:spPr>
          <a:xfrm>
            <a:off x="863798" y="3646527"/>
            <a:ext cx="6343412" cy="2440781"/>
          </a:xfrm>
          <a:prstGeom prst="roundRect">
            <a:avLst>
              <a:gd name="adj" fmla="val 1327"/>
            </a:avLst>
          </a:prstGeom>
          <a:solidFill>
            <a:srgbClr val="FFFFFF"/>
          </a:solidFill>
          <a:ln w="30480">
            <a:solidFill>
              <a:srgbClr val="D8D4D4"/>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764738" y="3547467"/>
            <a:ext cx="259080" cy="259080"/>
          </a:xfrm>
          <a:prstGeom prst="rect">
            <a:avLst/>
          </a:prstGeom>
        </p:spPr>
      </p:pic>
      <p:pic>
        <p:nvPicPr>
          <p:cNvPr id="6" name="Image 1" descr="preencoded.png"/>
          <p:cNvPicPr>
            <a:picLocks noChangeAspect="1"/>
          </p:cNvPicPr>
          <p:nvPr/>
        </p:nvPicPr>
        <p:blipFill>
          <a:blip r:embed="rId3"/>
          <a:stretch>
            <a:fillRect/>
          </a:stretch>
        </p:blipFill>
        <p:spPr>
          <a:xfrm>
            <a:off x="7047190" y="5927288"/>
            <a:ext cx="259080" cy="259080"/>
          </a:xfrm>
          <a:prstGeom prst="rect">
            <a:avLst/>
          </a:prstGeom>
        </p:spPr>
      </p:pic>
      <p:sp>
        <p:nvSpPr>
          <p:cNvPr id="7" name="Text 3"/>
          <p:cNvSpPr/>
          <p:nvPr/>
        </p:nvSpPr>
        <p:spPr>
          <a:xfrm>
            <a:off x="1218128" y="4000857"/>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Ask Questions</a:t>
            </a:r>
            <a:endParaRPr lang="en-US" sz="1900" dirty="0"/>
          </a:p>
        </p:txBody>
      </p:sp>
      <p:sp>
        <p:nvSpPr>
          <p:cNvPr id="8" name="Text 4"/>
          <p:cNvSpPr/>
          <p:nvPr/>
        </p:nvSpPr>
        <p:spPr>
          <a:xfrm>
            <a:off x="1218128" y="4437102"/>
            <a:ext cx="5634752" cy="1295876"/>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If a procedure doesn't make sense, ask your manager for clarification. Understanding the reason behind a rule helps you make the right decision, especially when you face a new situation.</a:t>
            </a:r>
            <a:endParaRPr lang="en-US" sz="1700" dirty="0"/>
          </a:p>
        </p:txBody>
      </p:sp>
      <p:sp>
        <p:nvSpPr>
          <p:cNvPr id="9" name="Shape 5"/>
          <p:cNvSpPr/>
          <p:nvPr/>
        </p:nvSpPr>
        <p:spPr>
          <a:xfrm>
            <a:off x="7423071" y="3646527"/>
            <a:ext cx="6343531" cy="2440781"/>
          </a:xfrm>
          <a:prstGeom prst="roundRect">
            <a:avLst>
              <a:gd name="adj" fmla="val 1327"/>
            </a:avLst>
          </a:prstGeom>
          <a:solidFill>
            <a:srgbClr val="FFFFFF"/>
          </a:solidFill>
          <a:ln w="30480">
            <a:solidFill>
              <a:srgbClr val="D8D4D4"/>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324011" y="3547467"/>
            <a:ext cx="259080" cy="259080"/>
          </a:xfrm>
          <a:prstGeom prst="rect">
            <a:avLst/>
          </a:prstGeom>
        </p:spPr>
      </p:pic>
      <p:pic>
        <p:nvPicPr>
          <p:cNvPr id="11" name="Image 3" descr="preencoded.png"/>
          <p:cNvPicPr>
            <a:picLocks noChangeAspect="1"/>
          </p:cNvPicPr>
          <p:nvPr/>
        </p:nvPicPr>
        <p:blipFill>
          <a:blip r:embed="rId3"/>
          <a:stretch>
            <a:fillRect/>
          </a:stretch>
        </p:blipFill>
        <p:spPr>
          <a:xfrm>
            <a:off x="13606582" y="5927288"/>
            <a:ext cx="259080" cy="259080"/>
          </a:xfrm>
          <a:prstGeom prst="rect">
            <a:avLst/>
          </a:prstGeom>
        </p:spPr>
      </p:pic>
      <p:sp>
        <p:nvSpPr>
          <p:cNvPr id="12" name="Text 6"/>
          <p:cNvSpPr/>
          <p:nvPr/>
        </p:nvSpPr>
        <p:spPr>
          <a:xfrm>
            <a:off x="7777401" y="4000857"/>
            <a:ext cx="2463522"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Embrace Feedback</a:t>
            </a:r>
            <a:endParaRPr lang="en-US" sz="1900" dirty="0"/>
          </a:p>
        </p:txBody>
      </p:sp>
      <p:sp>
        <p:nvSpPr>
          <p:cNvPr id="13" name="Text 7"/>
          <p:cNvSpPr/>
          <p:nvPr/>
        </p:nvSpPr>
        <p:spPr>
          <a:xfrm>
            <a:off x="7777401" y="4437102"/>
            <a:ext cx="5634871" cy="1295876"/>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We will be using new methods to understand how well we're all doing. Your honest feedback is a key part of this. We also encourage you to provide feedback on our safety rules and procedures to help us improve.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1444823"/>
            <a:ext cx="10365224" cy="613529"/>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How We Will Recognize Your Hard Work</a:t>
            </a:r>
            <a:endParaRPr lang="en-US" sz="3850" dirty="0"/>
          </a:p>
        </p:txBody>
      </p:sp>
      <p:sp>
        <p:nvSpPr>
          <p:cNvPr id="3" name="Text 1"/>
          <p:cNvSpPr/>
          <p:nvPr/>
        </p:nvSpPr>
        <p:spPr>
          <a:xfrm>
            <a:off x="863798" y="2490192"/>
            <a:ext cx="12902803"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Your commitment to these behaviors makes a real difference. We will be recognizing your positive actions through new programs and praise, because your hard work deserves to be acknowledged. Your participation in safety walks and your feedback are also important measures of our collective success.</a:t>
            </a:r>
            <a:endParaRPr lang="en-US" sz="1700" dirty="0"/>
          </a:p>
        </p:txBody>
      </p:sp>
      <p:sp>
        <p:nvSpPr>
          <p:cNvPr id="4" name="Text 2"/>
          <p:cNvSpPr/>
          <p:nvPr/>
        </p:nvSpPr>
        <p:spPr>
          <a:xfrm>
            <a:off x="863798" y="3785949"/>
            <a:ext cx="12902803" cy="1693307"/>
          </a:xfrm>
          <a:prstGeom prst="rect">
            <a:avLst/>
          </a:prstGeom>
          <a:noFill/>
          <a:ln/>
        </p:spPr>
        <p:txBody>
          <a:bodyPr wrap="square" lIns="0" tIns="0" rIns="0" bIns="0" rtlCol="0" anchor="t"/>
          <a:lstStyle/>
          <a:p>
            <a:pPr marL="0" indent="0" algn="ctr">
              <a:lnSpc>
                <a:spcPts val="6650"/>
              </a:lnSpc>
              <a:buNone/>
            </a:pPr>
            <a:r>
              <a:rPr lang="en-US" sz="5300" b="1" dirty="0">
                <a:solidFill>
                  <a:srgbClr val="000000"/>
                </a:solidFill>
                <a:latin typeface="Montserrat Bold" pitchFamily="34" charset="0"/>
                <a:ea typeface="Montserrat Bold" pitchFamily="34" charset="-122"/>
                <a:cs typeface="Montserrat Bold" pitchFamily="34" charset="-120"/>
              </a:rPr>
              <a:t>Thank you for being a Product Safety Champion</a:t>
            </a:r>
            <a:endParaRPr lang="en-US" sz="5300" dirty="0"/>
          </a:p>
        </p:txBody>
      </p:sp>
      <p:sp>
        <p:nvSpPr>
          <p:cNvPr id="5" name="Text 3"/>
          <p:cNvSpPr/>
          <p:nvPr/>
        </p:nvSpPr>
        <p:spPr>
          <a:xfrm>
            <a:off x="863798" y="5803106"/>
            <a:ext cx="12902803" cy="981551"/>
          </a:xfrm>
          <a:prstGeom prst="rect">
            <a:avLst/>
          </a:prstGeom>
          <a:noFill/>
          <a:ln/>
        </p:spPr>
        <p:txBody>
          <a:bodyPr wrap="square" lIns="0" tIns="0" rIns="0" bIns="0" rtlCol="0" anchor="t"/>
          <a:lstStyle/>
          <a:p>
            <a:pPr marL="0" indent="0" algn="ctr">
              <a:lnSpc>
                <a:spcPts val="3850"/>
              </a:lnSpc>
              <a:buNone/>
            </a:pPr>
            <a:r>
              <a:rPr lang="en-US" sz="3050" b="1" dirty="0">
                <a:solidFill>
                  <a:srgbClr val="000000"/>
                </a:solidFill>
                <a:latin typeface="Montserrat Bold" pitchFamily="34" charset="0"/>
                <a:ea typeface="Montserrat Bold" pitchFamily="34" charset="-122"/>
                <a:cs typeface="Montserrat Bold" pitchFamily="34" charset="-120"/>
              </a:rPr>
              <a:t>Your dedication is what keeps our products, and our consumers, safe.</a:t>
            </a:r>
            <a:endParaRPr lang="en-US" sz="3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608</Words>
  <Application>Microsoft Office PowerPoint</Application>
  <PresentationFormat>Custom</PresentationFormat>
  <Paragraphs>48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Montserrat Bold</vt:lpstr>
      <vt:lpstr>Source Sans 3</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lastModifiedBy>lyndsay@kangopak.co.za</cp:lastModifiedBy>
  <cp:revision>1</cp:revision>
  <cp:lastPrinted>2025-09-03T08:17:30Z</cp:lastPrinted>
  <dcterms:created xsi:type="dcterms:W3CDTF">2025-09-02T20:32:21Z</dcterms:created>
  <dcterms:modified xsi:type="dcterms:W3CDTF">2025-09-03T08:23:41Z</dcterms:modified>
</cp:coreProperties>
</file>